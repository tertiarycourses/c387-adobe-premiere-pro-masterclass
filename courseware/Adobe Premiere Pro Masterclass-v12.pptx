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9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Brief/log</c:v>
                </c:pt>
                <c:pt idx="1">
                  <c:v>Rough cut</c:v>
                </c:pt>
                <c:pt idx="2">
                  <c:v>Fine cut</c:v>
                </c:pt>
                <c:pt idx="3">
                  <c:v>Sound/colour</c:v>
                </c:pt>
                <c:pt idx="4">
                  <c:v>QC/export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seconds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Reflective</c:v>
                </c:pt>
                <c:pt idx="1">
                  <c:v>Conversational</c:v>
                </c:pt>
                <c:pt idx="2">
                  <c:v>Instructional</c:v>
                </c:pt>
                <c:pt idx="3">
                  <c:v>Energetic</c:v>
                </c:pt>
                <c:pt idx="4">
                  <c:v>Urgent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1.5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level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Dialogue</c:v>
                </c:pt>
                <c:pt idx="1">
                  <c:v>Music under speech</c:v>
                </c:pt>
                <c:pt idx="2">
                  <c:v>Music-only beat</c:v>
                </c:pt>
                <c:pt idx="3">
                  <c:v>Effects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35</c:v>
                </c:pt>
                <c:pt idx="2">
                  <c:v>70</c:v>
                </c:pt>
                <c:pt idx="3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Exposure</c:v>
                </c:pt>
                <c:pt idx="1">
                  <c:v>White balance</c:v>
                </c:pt>
                <c:pt idx="2">
                  <c:v>Contrast</c:v>
                </c:pt>
                <c:pt idx="3">
                  <c:v>Saturation</c:v>
                </c:pt>
                <c:pt idx="4">
                  <c:v>Continuity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45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Exposure</c:v>
                </c:pt>
                <c:pt idx="1">
                  <c:v>White balance</c:v>
                </c:pt>
                <c:pt idx="2">
                  <c:v>Contrast</c:v>
                </c:pt>
                <c:pt idx="3">
                  <c:v>Saturation</c:v>
                </c:pt>
                <c:pt idx="4">
                  <c:v>Continuity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88</c:v>
                </c:pt>
                <c:pt idx="2">
                  <c:v>86</c:v>
                </c:pt>
                <c:pt idx="3">
                  <c:v>84</c:v>
                </c:pt>
                <c:pt idx="4">
                  <c:v>92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Approx. MB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4 Mbps</c:v>
                </c:pt>
                <c:pt idx="1">
                  <c:v>8 Mbps</c:v>
                </c:pt>
                <c:pt idx="2">
                  <c:v>12 Mbps</c:v>
                </c:pt>
                <c:pt idx="3">
                  <c:v>20 Mbps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Story</c:v>
                </c:pt>
                <c:pt idx="1">
                  <c:v>Picture</c:v>
                </c:pt>
                <c:pt idx="2">
                  <c:v>Audio</c:v>
                </c:pt>
                <c:pt idx="3">
                  <c:v>Captions</c:v>
                </c:pt>
                <c:pt idx="4">
                  <c:v>Technical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C387-Adobe-Premiere-Pro-Masterclas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miere-pro-cover-hero-v1-88af87ae7d3c.jp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B8D9"/>
                </a:solidFill>
                <a:latin typeface="Arial"/>
              </a:rPr>
              <a:t>CUT · COLOUR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COURSE SLIDES · NON-WSQ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61920"/>
                </a:solidFill>
                <a:latin typeface="Arial"/>
              </a:rPr>
              <a:t>Adobe Premiere Pro Masterclass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</a:t>
            </a:r>
            <a:r>
              <a:rPr sz="1250">
                <a:solidFill>
                  <a:srgbClr val="5B6372"/>
                </a:solidFill>
                <a:latin typeface="Arial"/>
              </a:rPr>
              <a:t>C387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Duration  </a:t>
            </a:r>
            <a:r>
              <a:rPr sz="1250">
                <a:solidFill>
                  <a:srgbClr val="5B6372"/>
                </a:solidFill>
                <a:latin typeface="Arial"/>
              </a:rPr>
              <a:t>2 days · 15 instructional hours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</a:t>
            </a:r>
            <a:r>
              <a:rPr sz="1250">
                <a:solidFill>
                  <a:srgbClr val="5B6372"/>
                </a:solidFill>
                <a:latin typeface="Arial"/>
              </a:rPr>
              <a:t>Tertiary Infotech Academy Pte Ltd · UEN: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1D74"/>
                </a:solidFill>
                <a:latin typeface="Arial"/>
              </a:rPr>
              <a:t>Version v12 · 21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6473952"/>
            <a:ext cx="60350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© 2026 Tertiary Infotech Academy Pte Ltd · C387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FACILITATOR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General Trainer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2880360" cy="43434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1600200" cy="160020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42032"/>
            <a:ext cx="160020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TRAINER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Insert approved profile photo and professional designation before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783080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4AF4"/>
                </a:solidFill>
                <a:latin typeface="Arial"/>
              </a:rPr>
              <a:t>Industry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Relevant video-editing and post-production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1783080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Training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Adult-learning and facilitation credentials.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13048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11D74"/>
                </a:solidFill>
                <a:latin typeface="Arial"/>
              </a:rPr>
              <a:t>Course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Examples aligned to learner productions and delivery channels.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59" y="3813048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professional contact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AI, courseware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Concept-led explanation, coached edit decisions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Traceable versions, technical QC and clear acceptance criteria.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Explain why each cut, mix, grade and export choice fits the brief.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Video-Editing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video content do you create or review?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Web, social, training, corporate or documentary?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editing stage consumes the most time?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picture or audio defect is most visible?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NLE or mobile editor have you used?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finished sequence will demonstrate improvement?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Edit, test and explain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Protect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Use supplied footage and do not publish it outside the course.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sources and use clear sequence/file names.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work and project files.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Reopen every exported MP4 before hand-off.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475488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Adobe Premiere Pro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Courseware · v12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Lab folders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Finish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Deliver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Day 1 develops editorial structure and shot control; Day 2 integrates sound, graphics, colour, QC and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FIVE CONNECTED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Get Started on Premiere Pro
Video theory · project setup · import · codecs · proxies · bins · logs · rough-cut planning
LO1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Shot Editing
Source and Program monitors · three-point editing · track control · trim types · pacing · transitions
LO2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Audio and Graphics Editing
Gain and volume · keyframes · repair · music · sync · stills · graphics · effects · masks
LO3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Clip and Colour Editing
Speed · time remapping · colour correction · scopes · matching · review and collaboration
LO4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Topic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Final Touch-up and Delivery
Titles · captions · reframing · quality control · export · archive · production hand-off
LO5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GITHUB 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Open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Option A ·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Clone the linked repository. The exact command is in the Learner Guide.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Option B ·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Open GitHub · Code · Download ZIP, then extract the complete labs tree.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Each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Open README.pdf or README.md, then work from the supplied .prproj and MP4 files.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1234440" y="5074920"/>
            <a:ext cx="2606040" cy="438912"/>
          </a:xfrm>
          <a:prstGeom prst="roundRect">
            <a:avLst/>
          </a:prstGeom>
          <a:solidFill>
            <a:srgbClr val="224AF4"/>
          </a:solidFill>
          <a:ln>
            <a:solidFill>
              <a:srgbClr val="224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5175504"/>
            <a:ext cx="23774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Open GitHub repository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PRODUCTION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Media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Supported laptop/workstation, headphones, reliable storage and a suitable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Current supported Premiere desktop release; Media Encoder where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Supplied MP4, still and audio assets plus valid .prproj starter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Organisation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Named bins, tracks, sequences, exports and a written edit log.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Configured cache, playback resolution and proxy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Verified copies, autosave, versioned projects and reopened exports.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Premiere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Non-linear editing, audio, graphics, colour and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Not Adobe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course does not award an Adobe credential.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Panels and labels may move; editorial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tools by story, signal path, timing and specification.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AI-assisted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Review automatic transcripts, reframing, matching and generated results.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Adobe and Premiere are Adobe trademarks; the provider is not affiliated with Adobe.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Get Started on Premiere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Video theory · project setup · import · codecs · proxies · bins · logs · rough-cut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EDITABLE 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Editing Workload by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Production planning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B8D9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planning split: rushing the brief or QC creates expensive rework later. Adjust the editable data for the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 Purpose and Audience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horses front-1d6928759bef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Editing selects and orders picture and sound so a defined audience can follow an intended message and emotional arc.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Turning a brief, interview or documentary theme into edit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one-sentence story intention and a shot-selection rationale are recorded.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 Purpose and Audience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purpose; duration; channel; call to action; tone;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Choosing attractive shots that do not advance the story or meet the brief.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one-sentence story intention and a shot-selection rationale are recorded.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Shot Size, Angle and Visual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horses side-9a3dd67505b1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Wide, medium and close shots establish context, action and detail; angle and screen direction change meaning.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Building coverage that orients viewers and supports clean cuts.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sequence preserves orientation and uses shot-size contrast intentionally.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Shot Size, Angle and Visual Grammar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Establishing shot; eyeline; headroom; lead room; 180-degree rule; match on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Jumping screen direction, missing context or cutting between nearly identical framings.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sequence preserves orientation and uses shot-size contrast intentionally.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Continuity and Montage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field work-54d49661bc4a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Continuity hides construction across cuts; montage uses juxtaposition to compress time or create a new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between invisible narrative flow and expressive association.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viewer can explain place, time and action without verbal repair.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Continuity and Montage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Action match; eyeline match; cutaway; reaction; insert; temporal compression.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Continuity errors that distract, or montage shots with no conceptual relationship.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viewer can explain place, time and action without verbal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Project, Sequence and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project stores edit decisions and metadata, a sequence stores the timeline, and source media remains external.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Designing a portable, recoverable editing workspace.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Project, media and export locations are documented and recoverable.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Project, Sequence and Media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Project location; scratch disks; sequence settings; media paths; cache; autosave.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a .prproj contains the media, or saving projects inside disposable cache folders.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Project, media and export locations are documented and recoverable.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Containers, Codecs and Frame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container packages streams; codecs encode picture or sound; frame rate defines temporal sampling.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Diagnosing compatibility, playback and delivery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Media properties and sequence decisions are recorded before editing.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Containers, Codecs and Frame Rates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MP4/MOV; H.264/HEVC/ProRes; CFR/VFR; 23.976/25/29.97/50/60 fps.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MP4 as a codec or mixing frame rates without an explicit interpretation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Media properties and sequence decisions are recorded before editing.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Import and Ingest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Import registers source files in the project; ingest can copy, transcode or create proxies while preserving source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Starting projects from cameras, recorders, stills and shared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All sources appear in named bins and the verified master copy remains untouched.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Import and Ingest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Media Browser; Import mode; copy; transcode; proxy preset; checksum; naming.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Renaming or moving camera-card structures before a verified copy exists.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All sources appear in named bins and the verified master copy remains untouched.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Proxy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Proxies are lighter alternate files attached to high-quality originals and toggled for smoother editing.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High-resolution, long-GOP or multi-camera media on constrained hardware.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Proxy status is visible, playback improves and final export uses approved masters.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Proxy Workflow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Create Proxies; preset; frame size; watermark; attach; toggle; full-resolution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Exporting the proxies accidentally or losing source/proxy relink relationships.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Proxy status is visible, playback improves and final export uses approved masters.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Bins, Metadata and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651653271-1bcbe60a5bb9.jpg"/>
          <p:cNvPicPr>
            <a:picLocks noChangeAspect="1"/>
          </p:cNvPicPr>
          <p:nvPr/>
        </p:nvPicPr>
        <p:blipFill>
          <a:blip r:embed="rId2"/>
          <a:srcRect l="19407" r="19407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Bins create human-readable hierarchy while metadata and search bins expose technical and editorial attributes.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Large interview and B-roll libraries.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second editor can locate a requested moment quickly.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Bins, Metadata and Search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Scene; take; camera; good; description; label; search bin; icon/list/freeform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Deep anonymous folders, duplicate names or metadata that exists only in a separate spreadsheet.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second editor can locate a requested moment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Offline Media and Relinking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Premiere retains clip metadata when source files move and can reconnect them by name, path and media properties.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Portable drives, shared storage and handed-off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Every clip is online and spot checks match picture, duration and timecode.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Offline Media and Relinking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Link Media; Locate; relink others automatically; file extension; media start; timecode.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Relinking a same-named but different clip or breaking folder structure after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clip is online and spot checks match picture, duration and timecode.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Project Setup, Ingest and Proxies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horses front-1d6928759bef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documentary team has supplied mixed interview and B-roll files. The edit must remain portable and responsive on a training laptop.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Set up a recoverable project, inspect source properties, import media into bins and attach proxies.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Lab01-Working.prproj, media-property log, bin screenshot, proxy-status screenshot and verified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Editing Logs, Markers and Rough-Cut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cows-71d475dfaeb1.jpg"/>
          <p:cNvPicPr>
            <a:picLocks noChangeAspect="1"/>
          </p:cNvPicPr>
          <p:nvPr/>
        </p:nvPicPr>
        <p:blipFill>
          <a:blip r:embed="rId2"/>
          <a:srcRect l="14254" r="14254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producer needs a traceable shortlist of interview ideas and supporting B-roll before the first assembly.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an editing log, mark selects and assemble a clear story spine.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Lab02-Working.prproj, completed log, marker screenshot and selects-reel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EXPLAIN THE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should the audience understand or feel?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shot, sound or effect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edit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Which timecode, scope, meter or export property proves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traceable revision would improve the sequence?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Shot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Source and Program monitors · three-point editing · track control · trim types · pacing ·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EDITABLE PACING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Average Shot Length and Perceived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deck · pacing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relationship, not a fixed rule: movement, audio rhythm and information density also shape pacing.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Source, Program and Timeline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Source Monitor prepares individual clips; the Program Monitor shows sequence output; the Timeline holds edit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Separating source decisions from sequence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correct monitor and timecode are named in the editing log.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Source, Program and Timeline Roles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Playhead; In/Out; track headers; time ruler; safe margins; playback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Marking the sequence when intending to mark the source, or judging quality at low playback resolution.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correct monitor and timecode are named in the editing 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In, Out and Three-Point Editing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Any three of source In, source Out, sequence In and sequence Out define an edit; Premiere calculates the fourth.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Precise duration-controlled assembly.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inserted segment starts, ends and lands at the logged timecodes.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In, Out and Three-Point Editing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I/O; clear In/Out; insert; overwrite; source duration; sequence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Leaving stale marks or forcing a duration that changes the wrong source boundary.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inserted segment starts, ends and lands at the logged timecodes.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Insert vs Overwrite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Insert opens time and ripples later clips; overwrite replaces occupied duration without changing later timing.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whether new material should move or replace downstream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Before/after duration and displaced tracks match the editing intention.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Insert vs Overwrite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Comma/period shortcuts; source patching; track targeting; sync locks.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insert in a locked-duration programme or overwriting wanted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Before/after duration and displaced tracks match the editing intention.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Source Patching and Track Targeting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Source patches route incoming channels; track targets determine many timeline commands and navigation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Controlling where video and audio land in multi-track sequences.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Imported channels land on named tracks without disturbing protected content.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Source Patching and Track Targeting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V1/A1 patches; target highlights; sync locks; linked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Sending audio to the wrong track or misunderstanding target versus patch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Imported channels land on named tracks without disturbing protected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Selection, Razor and Add 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 moves and trims clips; Razor or Add Edit creates edit points; keyboard methods reduce tool switching.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Building and restructuring rough cuts.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Edit points are deliberate and no orphaned frames or audio pieces remain.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Selection, Razor and Add Edit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Selection; Razor; Cmd/Ctrl+K; linked selection; snapping; track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Cutting every enabled track or separating linked audio unintentionally.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Edit points are deliberate and no orphaned frames or audio pieces remain.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Ripple and Rolling Trims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Ripple changes one side and sequence duration; Rolling moves the cut while preserving combined duration.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Tightening pauses or shifting emphasis between adjacent shots.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intended timing changes and downstream sync remains verified.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Ripple and Rolling Trims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Ripple tool; Rolling tool; Q/W trims; trim mode; sync locks.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Breaking sync or rippling a locked timing milestone.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intended timing changes and downstream sync remains verified.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Slip and Slide Edits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Slip changes a clip's source In/Out while holding timeline position; Slide moves the clip while adjusting its neighbours.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Refining content without rebuilding sequence timing.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Sequence duration is unchanged and the chosen action frames improve continuity.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Slip and Slide Edits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Slip tool; Slide tool; four-up display; handles; neighbouring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Insufficient handles or changing the wrong narrative beat.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Sequence duration is unchanged and the chosen action frames improve continuity.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Pacing and Shot Duration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horses diagonal-dbf677cda1a4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Shot duration, movement, audio rhythm and information density shape perceived energy and comprehension.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Matching fast action, reflective interviews and instructional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pacing log links key cuts to story beats and audience response.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Pacing and Shot Duration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Average shot length; pause; reaction; beat; J-cut/L-cut; music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Uniform shot duration or speed used without story justification.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pacing log links key cuts to story beats and audience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Transitions and Handles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569569059-15705385512f.jpg"/>
          <p:cNvPicPr>
            <a:picLocks noChangeAspect="1"/>
          </p:cNvPicPr>
          <p:nvPr/>
        </p:nvPicPr>
        <p:blipFill>
          <a:blip r:embed="rId2"/>
          <a:srcRect l="13668" r="13668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transition overlaps outgoing and incoming media, requiring unused source frames called handles.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Signalling time, place, memory or a deliberate stylistic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Most edits work as cuts; selected transitions have a documented narrative purpose.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Transitions and Handles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Cut; dissolve; dip; wipe; duration; alignment; handles; default transition.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transitions to hide weak shot choice, or repeated decorative effects.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Most edits work as cuts; selected transitions have a documented narrative purpose.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J-Cuts, L-Cuts and Continuity Bridges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J-cut lets incoming audio lead picture; an L-cut lets outgoing audio continue under the next 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Smoother dialogue, interview B-roll and scene connections.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Audio bridges hide picture edits while speech remains natural.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J-Cuts, L-Cuts and Continuity Bridges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Linked selection; rolling audio; constant power; room tone; cutaway.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Audible discontinuities, exposed gaps or dialogue cut mid-phoneme.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Audio bridges hide picture edits while speech remains natural.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Three-Point Editing, Trims and Pacing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field work-54d49661bc4a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An interview section feels slow and repetitive. The director wants a concise version that keeps the speaker's meaning.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three-point edits and multiple trim types to produce a deliberate 25–35 second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Lab03-Working.prproj, trim-decision log and paced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04 · Continuity, Cutaways and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horses diagonal-dbf677cda1a4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farm-work montage needs clear geography and one motivated passage of time without decorative transition overload.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Build a continuity sequence and use a transition only where it communicates story meaning.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Lab04-Working.prproj, continuity map, transition rationale and montage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EXPLAIN THE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should the audience understand or feel?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shot, sound or effect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edit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Which timecode, scope, meter or export property proves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traceable revision would improve the sequence?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Audio and Graphics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Gain and volume · keyframes · repair · music · sync · stills · graphics · effects · masks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EDITABLE MIXING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Dialogue-to-Music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 ·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relative values encourage hierarchy. Use meters and listening tests; do not treat these numbers as loudness standards.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Gain, Volume and Signal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Gain changes clip input level; volume and track controls change level later in the sequence signal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Normalising inconsistent recordings before mixing.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Dialogue is consistent, unclipped and leaves suitable headroom.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Gain, Volume and Signal Flow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Audio Gain; peak amplitude; normalize; clip volume; track fader; meters.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Boosting noisy audio excessively or confusing gain with track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Dialogue is consistent, unclipped and leaves suitable headroom.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Meters, Headroom and Clipping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Digital meters show sample peaks; 0 dBFS is the ceiling and clipping cannot be repaired by lowering volume later.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Preventing distortion and balancing dialogue, music and effects.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Full-programme playback shows stable, unclipped levels.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Meters, Headroom and Clipping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Peak meter; dBFS; true-peak awareness; channel layout; mute/solo.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Mixing by ear alone or allowing red clip indicators to persist.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Full-programme playback shows stable, unclipped levels.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Clip Keyframes and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Keyframes store parameter values over time and interpolate volume, pan, opacity, motion and effects.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Fades, ducking, emphasis and animated properties.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envelope is smooth and parameter changes occur at intended story beats.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Clip Keyframes and Automation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Add/remove keyframe; Bezier/linear; temporal interpolation; rubber band; automation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Too few keyframes causing abrupt change or too many creating noisy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envelope is smooth and parameter changes occur at intended story beats.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Dialogue Repair and Essential Sound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cows-71d475dfaeb1.jpg"/>
          <p:cNvPicPr>
            <a:picLocks noChangeAspect="1"/>
          </p:cNvPicPr>
          <p:nvPr/>
        </p:nvPicPr>
        <p:blipFill>
          <a:blip r:embed="rId2"/>
          <a:srcRect l="19362" r="19362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Dialogue tools classify clips and provide repair, clarity and loudness controls around common speech problems.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Noise, hum, rumble, sibilance and inconsistent interview recordings.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A/B review improves intelligibility without audible artefacts.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Dialogue Repair and Essential Sound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Dialogue tag; Reduce Noise; Reduce Rumble; DeHum; DeEss; Enhance Speech; loudness.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Over-processing that creates metallic or phasey speech.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A/B review improves intelligibility without audible artefacts.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Music Editing, Remix and Fades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208015050-3824fc119dcc.jpg"/>
          <p:cNvPicPr>
            <a:picLocks noChangeAspect="1"/>
          </p:cNvPicPr>
          <p:nvPr/>
        </p:nvPicPr>
        <p:blipFill>
          <a:blip r:embed="rId2"/>
          <a:srcRect l="9149" r="9149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Music edits can follow phrase boundaries; Remix changes duration algorithmically; fades and ducking protect dialogue.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Fitting music to locked duration and shaping scene energy.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music ends musically and dialogue remains clear.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Music Editing, Remix and Fades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Waveform; beat; remix duration; crossfade; keyframes; Essential Sound ducking.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Cutting across a musical phrase or masking speech with midrange energy.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music ends musically and dialogue remains clear.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Synchronising Audio and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Premiere can synchronise by timecode, markers or matching waveforms; manual slips handle residual offsets.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Dual-system sound and multi-camera interviews.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Lip sync and transient checks match at multiple points.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Synchronising Audio and Video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Synchronize; merge clips; timecode; waveform; slate; linked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Syncing noisy reference audio blindly or deleting production audio before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Lip sync and transient checks match at multiple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Still Images and 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397554836-ab8a5cb34e19.jpg"/>
          <p:cNvPicPr>
            <a:picLocks noChangeAspect="1"/>
          </p:cNvPicPr>
          <p:nvPr/>
        </p:nvPicPr>
        <p:blipFill>
          <a:blip r:embed="rId2"/>
          <a:srcRect l="10483" r="10483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Still images occupy time like clips; Motion properties and keyframes create reframing and pan/zoom movement.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Photographs, documents, maps and title cards.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Image detail holds at delivery size and motion supports the narration.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Still Images and Motion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Default still duration; Set/Scale to Frame Size; Position; Scale; anchor; keyframes.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Scaling beyond available pixels or creating distracting constant motion.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Image detail holds at delivery size and motion supports the narration.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27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Graphics and Lower Thirds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651654443-8b5834a48d8f.jpg"/>
          <p:cNvPicPr>
            <a:picLocks noChangeAspect="1"/>
          </p:cNvPicPr>
          <p:nvPr/>
        </p:nvPicPr>
        <p:blipFill>
          <a:blip r:embed="rId2"/>
          <a:srcRect l="13748" r="13748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Text and vector shapes remain editable graphics clips whose properties can be styled and animated.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Names, roles, locations, chapter labels and calls to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lower third reads at playback speed and survives safe-area review.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Graphics and Lower Thirds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Type tool; Properties; alignment; safe margins; responsive design; styles.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 contrast, tiny type, inconsistent margins or covering important picture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lower third reads at playback speed and survives safe-area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28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Effects and Adjustment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Clip effects affect one item; adjustment layers apply effects to the composite beneath and preserve shared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looks, effects stacks and reusable treatments.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Effect order is documented and an A/B toggle proves the intended contribution.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Effects and Adjustment Layers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Effects panel; Effect Controls; order; enable/disable; adjustment layer; render bar.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Duplicating inconsistent settings or stacking effects without isolating the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Effect order is documented and an A/B toggle proves the intended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29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Masks, Tracking and Stabilisation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field work-54d49661bc4a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Effect masks limit treatment; tracking follows motion; Warp Stabilizer analyses camera motion and reframes edges.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Privacy blur, selective correction and unwanted camera shake.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mask follows the subject and stabilisation does not distort important geometry.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Masks, Tracking and Stabilisation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Ellipse/pen mask; feather; expansion; track; stabilisation method; smoothness; crop.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Tracking poor contrast, masking the wrong object or accepting heavy warping.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mask follows the subject and stabilisation does not distort important geometry.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Dialogue Repair, Music and Keyframes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cows-71d475dfaeb1.jpg"/>
          <p:cNvPicPr>
            <a:picLocks noChangeAspect="1"/>
          </p:cNvPicPr>
          <p:nvPr/>
        </p:nvPicPr>
        <p:blipFill>
          <a:blip r:embed="rId2"/>
          <a:srcRect l="14254" r="14254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interview is uneven and contains background noise; music must support the scene without masking speech.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Repair dialogue, balance music and create smooth level automation.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Lab05-Working.prproj, before/after level notes, keyframe screenshot and mixed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06 · Stills, Graphics and Adjustment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obeStock_651653271-1bcbe60a5bb9.jpg"/>
          <p:cNvPicPr>
            <a:picLocks noChangeAspect="1"/>
          </p:cNvPicPr>
          <p:nvPr/>
        </p:nvPicPr>
        <p:blipFill>
          <a:blip r:embed="rId2"/>
          <a:srcRect l="14307" r="14307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short documentary section needs a still photograph, a lower third and a restrained shared treatment.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Animate a still, build a readable lower third and apply a shared effect non-destructively.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Lab06-Working.prproj, keyframe screenshot, safe-margin screenshot and graphics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Masks, Tracking and Visual Clean-up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horses side-9a3dd67505b1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An outdoor clip contains camera shake and a distracting region that must be reduced without damaging the subject.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Stabilise the clip and track a feathered effect mask to clean a local imperfection.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Lab07-Working.prproj, stabilisation/mask settings, A/B notes and cleaned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EXPLAIN THE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should the audience understand or feel?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shot, sound or effect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edit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Which timecode, scope, meter or export property proves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traceable revision would improve the sequence?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Clip and Colour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Speed · time remapping · colour correction · scopes · matching · review and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EDITABLE QUALITY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Shot-Matching Review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 · colour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scopes and visual review to improve consistency. The values are an editable example rubric, not measured source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30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Speed and Duration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horses front-1d6928759bef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Speed percentage and duration are inversely related; frame blending or optical methods create intermediate frames.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Slow motion, time compression and fitting action to timing.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Motion is visually acceptable and final duration matches the brief.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Speed and Duration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Speed/Duration; reverse; ripple trailing clips; frame sampling; frame blending; optical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optical flow on occlusions or violating production frame-rate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is visually acceptable and final duration matches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31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Rate Stretch and Time Remapping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Rate Stretch fits a clip to timeline duration; Time Remapping changes speed over time with keyframes and ramps.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Variable-speed emphasis and precise gap filling.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ramp enters and exits smoothly at meaningful action points.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Rate Stretch and Time Remapping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Rate Stretch tool; speed keyframes; ramp handles; time interpolation.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Unmotivated ramps, audio pitch artefacts or action changing too abruptly.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ramp enters and exits smoothly at meaningful action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32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Correction vs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Correction neutralises technical differences; grading applies an intentional creative look after correction.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Matching cameras before establishing visual style.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Shots match first, then the approved grade remains consistent.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Correction vs Grading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White balance; exposure; contrast; saturation; look; bypass;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a LUT as repair or grading inconsistent sources before matching.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Shots match first, then the approved grade remains consistent.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33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Scopes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275949530-5538ecb2ccf4.jpg"/>
          <p:cNvPicPr>
            <a:picLocks noChangeAspect="1"/>
          </p:cNvPicPr>
          <p:nvPr/>
        </p:nvPicPr>
        <p:blipFill>
          <a:blip r:embed="rId2"/>
          <a:srcRect l="13688" r="13688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Waveform displays signal level by horizontal position; parade separates RGB channels; vectorscope shows hue and saturation.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Objective exposure, balance, skin-tone and legal-range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Scope captures and visual review support each correction decision.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Scopes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Luma waveform; RGB parade; vectorscope; scale; clipping; reference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Trusting an uncalibrated display alone or reading scopes without scene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Scope captures and visual review support each correction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34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White Balance and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Temperature/tint and tonal controls neutralise casts and place key picture regions in usable ranges.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Mixed interviews, outdoor shifts and camera mismatch.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Neutral references and important skin/detail areas remain plausible.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White Balance and Exposure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Eyedropper; temperature; tint; exposure; highlights; shadows; whites; blacks.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Forcing neutral balance in intentionally warm/cool scenes or clipping highlights.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Neutral references and important skin/detail areas remain plausible.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35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Curves and Colour Wheels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Curves reshape tonal relationships; wheels move shadows, midtones and highlights toward chosen colour vectors.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Targeted contrast, cast repair and controlled creative shaping.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Before/after scopes show controlled change without new clipping.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Curves and Colour Wheels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RGB curves; hue/saturation curves; shadow/midtone/highlight wheels; luma vs chroma.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Crossing channels aggressively or creating banding and unnatural skin.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Before/after scopes show controlled change without new clipping.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36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Shot Matching and Comparison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cows-71d475dfaeb1.jpg"/>
          <p:cNvPicPr>
            <a:picLocks noChangeAspect="1"/>
          </p:cNvPicPr>
          <p:nvPr/>
        </p:nvPicPr>
        <p:blipFill>
          <a:blip r:embed="rId2"/>
          <a:srcRect l="19362" r="19362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Comparison View places a reference beside the current shot so visual and automatic matching can be evaluated.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Interviews, multi-camera scenes and sequences under one lighting condition.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Adjacent shots cut without distracting shifts in exposure or colour.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Shot Matching and Comparison View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Reference frame; current frame; face detection; colour wheels; shot match; wipe.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Matching to an unrepresentative frame or accepting automatic results without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Adjacent shots cut without distracting shifts in exposure or colour.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37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Collaborative Review and Change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Timecoded comments, sequence versions and change logs make creative decisions traceable across production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Director, producer, editor and client review cycles.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Every accepted change links to a comment, version and verifier.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Collaborative Review and Change Control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Version name; locked review export; timecode burn-in; comment status; change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Overwriting approved versions or implementing ambiguous feedback without confirmation.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accepted change links to a comment, version and verifier.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08 · Speed, Duration and Time Remapping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field work-54d49661bc4a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farm-action montage must compress time while preserving one moment of emphasis and meeting a fixed duration.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constant and variable speed treatments and verify motion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Lab08-Working.prproj, three treatment variants, interpolation comparison and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Colour Correction, Shot Matching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horses front-1d6928759bef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Two shots recorded under different conditions must cut together naturally before a subtle approved grade is applied.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Correct exposure and white balance with scopes, match shots and record review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Lab09-Working.prproj, before/after scopes, review v01/v02, comment log and final MP4.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EXPLAIN THE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should the audience understand or feel?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shot, sound or effect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edit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Which timecode, scope, meter or export property proves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traceable revision would improve the sequence?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Final Touch-up and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Titles · captions · reframing · quality control · export · archive · production hand-off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EDITABLE EXPORT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Bitrate and Approximate 60-Second File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 · export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Approximation: file size ≈ bitrate × duration ÷ 8. Audio and container overhead add a little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EDITABLE QUALITY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QC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quality-control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92828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polished picture is not sufficient: story, sound, accessibility and technical delivery all contribute to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38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Text Hierarchy and Safe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Title size, weight, spacing and placement establish reading order while safe margins protect delivery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Openers, lower thirds, end cards and instructional labels.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Text passes contrast, spelling, safe-area and playback-duration checks.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Text Hierarchy and Safe Placement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Font; size; leading; tracking; alignment; safe margins; duration; contrast.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Too much text, weak hierarchy or appearing for too little reading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Text passes contrast, spelling, safe-area and playback-duration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39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Captions and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526210360-55f595d39955.jpg"/>
          <p:cNvPicPr>
            <a:picLocks noChangeAspect="1"/>
          </p:cNvPicPr>
          <p:nvPr/>
        </p:nvPicPr>
        <p:blipFill>
          <a:blip r:embed="rId2"/>
          <a:srcRect l="13546" r="13546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Caption tracks align text to speech and can be styled, burned in, embedded or exported as sidecar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Accessible dialogue, multilingual delivery and silent autoplay.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Captions match speech, identify speakers where needed and pass a full read-through.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Captions and Accessibility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Transcribe; speaker names; caption creation; track style; line length; timing; SRT.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Uncorrected transcription, poor line breaks or captions covering essential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Captions match speech, identify speakers where needed and pass a full read-through.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40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Aspect Ratios and Auto Reframe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ill export_Vince and horses diagonal-dbf677cda1a4.jpg"/>
          <p:cNvPicPr>
            <a:picLocks noChangeAspect="1"/>
          </p:cNvPicPr>
          <p:nvPr/>
        </p:nvPicPr>
        <p:blipFill>
          <a:blip r:embed="rId2"/>
          <a:srcRect l="19347" r="19347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Reframing adapts composition to another canvas; Auto Reframe analyses motion and creates position keyframes.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16:9, 1:1, 4:5 and 9:16 derivatives.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Each derivative preserves the focal subject and readable graphics.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Aspect Ratios and Auto Reframe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Sequence size; nest; Auto Reframe; motion tracking; safe zones; graphic repositioning.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Blindly accepting automated framing or cropping gestures and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derivative preserves the focal subject and readable graphics.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41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Technical Quality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635885129-6e7b83051ac4.jpg"/>
          <p:cNvPicPr>
            <a:picLocks noChangeAspect="1"/>
          </p:cNvPicPr>
          <p:nvPr/>
        </p:nvPicPr>
        <p:blipFill>
          <a:blip r:embed="rId2"/>
          <a:srcRect l="20164" r="20164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QC combines uninterrupted playback with targeted inspection of picture, sound, captions and specifications.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Final approval before client or platform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signed checklist records full-duration playback and spot checks.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Technical Quality Control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Resolution; frame rate; aspect; field order; audio channels; peaks; captions; black frames.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Checking only favourite scenes or verifying the timeline but not the exported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signed checklist records full-duration playback and spot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42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Export Format, Codec and Bitrate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Export mode encodes the sequence into a delivery container and codec using frame, audio and bitrate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Web MP4, review files, mezzanine masters and archive derivatives.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export reopens, reports expected properties and meets the destination brief.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Export Format, Codec and Bitrate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H.264; QuickTime; preset; frame size/rate; VBR; target/max bitrate; hardware/software encoding.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Choosing the smallest file without quality review or changing frame rate unintentionally.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export reopens, reports expected properties and meets the destination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43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Audio and Caption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Delivery includes explicit audio channel, sample-rate, loudness and caption-mode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Accessible web delivery, broadcast hand-off and social publishing.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package inventory confirms picture, audio and caption deliverables.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Audio and Caption Export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Stereo/mono; 48 kHz; bitrate; normalization; embed/burn-in/sidecar; SRT frame 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Missing caption files, wrong channels or clipped programme peaks.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package inventory confirms picture, audio and caption deliverables.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44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 Archiving and Consolidation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obeStock_209012645-e3e0be871e48.jpg"/>
          <p:cNvPicPr>
            <a:picLocks noChangeAspect="1"/>
          </p:cNvPicPr>
          <p:nvPr/>
        </p:nvPicPr>
        <p:blipFill>
          <a:blip r:embed="rId2"/>
          <a:srcRect l="15957" r="15957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Project Manager can collect, transcode or trim used media so the edit can be restored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Handover, long-term retention and freeing active storage.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archive opens on another path with all required media online.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Archiving and Consolidation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Exclude unused clips; handles; collect/copy; transcode; destination;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Archiving only the .prproj or deleting sources before the archive opens successfully.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archive opens on another path with all required media online.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45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Hand-off and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delivery package separates editable master, review export, approved final, captions, rights records and change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Production team hand-off and auditable client delivery.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manifest, checksum and approval record identify the exact delivered version.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Final Hand-off and Versioning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Premiere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Version convention; checksum; manifest; approval status; archive location; retention.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'final-final' names or sending unapproved sources and personal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manifest, checksum and approval record identify the exact delivered 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review at full speed and at the delivery size.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10 · Captions, Reframe, QC and Final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ll export_Vince and horses diagonal-dbf677cda1a4.jpg"/>
          <p:cNvPicPr>
            <a:picLocks noChangeAspect="1"/>
          </p:cNvPicPr>
          <p:nvPr/>
        </p:nvPicPr>
        <p:blipFill>
          <a:blip r:embed="rId2"/>
          <a:srcRect l="14236" r="14236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completed documentary excerpt needs accessible captions, 16:9 and 9:16 versions, technical QC and an archive-ready hand-off.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Finish titles/captions, create a vertical derivative, export verified deliverables and archive the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Assemble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Refine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Retain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Lab10-Capstone-v01.prproj, QC checklist, 16:9 MP4, 9:16 MP4, SRT, manifest and verified archive.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10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EXPLAIN THE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5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should the audience understand or feel?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shot, sound or effect fit the brief?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result?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edit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Which timecode, scope, meter or export property proves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traceable revision would improve the sequence?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Post-Production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story,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Verify, organise and proxy source media.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a rough cut, then refine pacing and continuity.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Mix sound, complete graphics and match colour.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timecoded feedback and control versions.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QC, export, reopen and archive the exact approved package.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CHANGE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Production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Lock review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stable filenames and timecode for comments.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Name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Increment sequence and export versions deliberately.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Clarify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Resolve ambiguous notes before changing the cut.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Record disposition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each comment with reason.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Protect media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 only authorised footage and deliverables.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exact final version and approver.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share course media or learner work publicly.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Rate the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Tell us how well the content, pace and labs met your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Rate the 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 feedback on explanations, demonstrations and lab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Keep practising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any remaining labs using each lab folder's README.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0B8D9"/>
                </a:solidFill>
                <a:latin typeface="Arial"/>
              </a:rPr>
              <a:t>Shape the story · protect the signal · verify the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Adobe Premiere Pro Masterclass  ·  C387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